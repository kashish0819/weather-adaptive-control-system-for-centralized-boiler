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tags/tag9.xml" ContentType="application/vnd.openxmlformats-officedocument.presentationml.tags+xml"/>
  <Override PartName="/ppt/notesSlides/notesSlide7.xml" ContentType="application/vnd.openxmlformats-officedocument.presentationml.notesSlide+xml"/>
  <Override PartName="/ppt/tags/tag10.xml" ContentType="application/vnd.openxmlformats-officedocument.presentationml.tags+xml"/>
  <Override PartName="/ppt/notesSlides/notesSlide8.xml" ContentType="application/vnd.openxmlformats-officedocument.presentationml.notesSlide+xml"/>
  <Override PartName="/ppt/tags/tag11.xml" ContentType="application/vnd.openxmlformats-officedocument.presentationml.tags+xml"/>
  <Override PartName="/ppt/notesSlides/notesSlide9.xml" ContentType="application/vnd.openxmlformats-officedocument.presentationml.notesSlide+xml"/>
  <Override PartName="/ppt/tags/tag12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2" r:id="rId1"/>
  </p:sldMasterIdLst>
  <p:notesMasterIdLst>
    <p:notesMasterId r:id="rId13"/>
  </p:notesMasterIdLst>
  <p:sldIdLst>
    <p:sldId id="280" r:id="rId2"/>
    <p:sldId id="281" r:id="rId3"/>
    <p:sldId id="282" r:id="rId4"/>
    <p:sldId id="293" r:id="rId5"/>
    <p:sldId id="284" r:id="rId6"/>
    <p:sldId id="285" r:id="rId7"/>
    <p:sldId id="294" r:id="rId8"/>
    <p:sldId id="287" r:id="rId9"/>
    <p:sldId id="288" r:id="rId10"/>
    <p:sldId id="289" r:id="rId11"/>
    <p:sldId id="291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1512">
          <p15:clr>
            <a:srgbClr val="A4A3A4"/>
          </p15:clr>
        </p15:guide>
        <p15:guide id="2" pos="312">
          <p15:clr>
            <a:srgbClr val="A4A3A4"/>
          </p15:clr>
        </p15:guide>
        <p15:guide id="3" orient="horz" pos="93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EEFD"/>
    <a:srgbClr val="213163"/>
    <a:srgbClr val="FFC509"/>
    <a:srgbClr val="FFF3CD"/>
    <a:srgbClr val="3333FF"/>
    <a:srgbClr val="55A3F3"/>
    <a:srgbClr val="A4A3A4"/>
    <a:srgbClr val="629AF4"/>
    <a:srgbClr val="E67450"/>
    <a:srgbClr val="EB4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50" autoAdjust="0"/>
    <p:restoredTop sz="74969" autoAdjust="0"/>
  </p:normalViewPr>
  <p:slideViewPr>
    <p:cSldViewPr snapToGrid="0">
      <p:cViewPr varScale="1">
        <p:scale>
          <a:sx n="57" d="100"/>
          <a:sy n="57" d="100"/>
        </p:scale>
        <p:origin x="1565" y="43"/>
      </p:cViewPr>
      <p:guideLst>
        <p:guide orient="horz" pos="1512"/>
        <p:guide pos="312"/>
        <p:guide orient="horz" pos="936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657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7DA4AA-0FF9-453D-94EE-83C1792FCA55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104865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104865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6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66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60CB1-A81F-4EE9-B081-19C290D4660A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9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104859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9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1048597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0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104860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0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1048607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2814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104861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1048617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2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104863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281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3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1048635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104864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1048647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5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1048655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0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1048581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1048582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583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1048584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1048649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50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1048651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ags" Target="../tags/tag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Google Shape;110;p4" descr="A close up of a sign  Description automatically generated"/>
          <p:cNvPicPr preferRelativeResize="0">
            <a:picLocks/>
          </p:cNvPicPr>
          <p:nvPr userDrawn="1"/>
        </p:nvPicPr>
        <p:blipFill rotWithShape="1">
          <a:blip r:embed="rId6">
            <a:alphaModFix/>
          </a:blip>
          <a:srcRect/>
          <a:stretch>
            <a:fillRect/>
          </a:stretch>
        </p:blipFill>
        <p:spPr>
          <a:xfrm>
            <a:off x="9293970" y="1161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76" name="Rectangle 5"/>
          <p:cNvSpPr/>
          <p:nvPr userDrawn="1"/>
        </p:nvSpPr>
        <p:spPr>
          <a:xfrm>
            <a:off x="7283428" y="62784"/>
            <a:ext cx="1109472" cy="584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577" name="Rectangle 7"/>
          <p:cNvSpPr/>
          <p:nvPr userDrawn="1"/>
        </p:nvSpPr>
        <p:spPr>
          <a:xfrm>
            <a:off x="-1" y="0"/>
            <a:ext cx="8791576" cy="695325"/>
          </a:xfrm>
          <a:prstGeom prst="rect">
            <a:avLst/>
          </a:prstGeom>
          <a:solidFill>
            <a:srgbClr val="2131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578" name="Isosceles Triangle 13"/>
          <p:cNvSpPr/>
          <p:nvPr userDrawn="1"/>
        </p:nvSpPr>
        <p:spPr>
          <a:xfrm rot="7879934">
            <a:off x="7704457" y="483903"/>
            <a:ext cx="1735808" cy="84454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579" name="TextBox 11"/>
          <p:cNvSpPr txBox="1"/>
          <p:nvPr userDrawn="1"/>
        </p:nvSpPr>
        <p:spPr>
          <a:xfrm>
            <a:off x="400050" y="125730"/>
            <a:ext cx="78962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</a:pPr>
            <a:r>
              <a:rPr lang="en-US" sz="2200" b="1">
                <a:solidFill>
                  <a:schemeClr val="bg1"/>
                </a:solidFill>
                <a:latin typeface="+mj-lt"/>
              </a:rPr>
              <a:t>Creating A Future-ready Workforce</a:t>
            </a:r>
          </a:p>
        </p:txBody>
      </p:sp>
      <p:pic>
        <p:nvPicPr>
          <p:cNvPr id="2097153" name="Picture 3" descr="A yellow triangle with black background  AI-generated content may be incorrect."/>
          <p:cNvPicPr>
            <a:picLocks noChangeAspect="1"/>
          </p:cNvPicPr>
          <p:nvPr userDrawn="1"/>
        </p:nvPicPr>
        <p:blipFill>
          <a:blip r:embed="rId7" cstate="print"/>
          <a:srcRect r="17974" b="43332"/>
          <a:stretch>
            <a:fillRect/>
          </a:stretch>
        </p:blipFill>
        <p:spPr>
          <a:xfrm>
            <a:off x="11094195" y="-24407"/>
            <a:ext cx="1097805" cy="716023"/>
          </a:xfrm>
          <a:prstGeom prst="rect">
            <a:avLst/>
          </a:prstGeom>
        </p:spPr>
      </p:pic>
    </p:spTree>
    <p:custDataLst>
      <p:tags r:id="rId5"/>
    </p:custDataLst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hyperlink" Target="https://drive.google.com/file/d/1kyJlMi3vMESOZCXxd7hlQS7Qjj4vbdcy/view?usp=drivesdk" TargetMode="Externa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Graphic 30" descr="Three circles each containing concentric circles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515" y="-1225274"/>
            <a:ext cx="6985841" cy="6985841"/>
          </a:xfrm>
          <a:prstGeom prst="rect">
            <a:avLst/>
          </a:prstGeom>
        </p:spPr>
      </p:pic>
      <p:sp>
        <p:nvSpPr>
          <p:cNvPr id="1048585" name="Rectangle 1"/>
          <p:cNvSpPr/>
          <p:nvPr/>
        </p:nvSpPr>
        <p:spPr>
          <a:xfrm>
            <a:off x="0" y="1"/>
            <a:ext cx="2187103" cy="68579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586" name="Rectangle 14"/>
          <p:cNvSpPr/>
          <p:nvPr/>
        </p:nvSpPr>
        <p:spPr>
          <a:xfrm>
            <a:off x="6227605" y="1664587"/>
            <a:ext cx="361400" cy="3726175"/>
          </a:xfrm>
          <a:prstGeom prst="rect">
            <a:avLst/>
          </a:prstGeom>
          <a:solidFill>
            <a:srgbClr val="FFC5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97155" name="Picture 22" descr="Close-up of two people's hands pointing at laptop screen with stack of 4 books in background, one person holding a pen"/>
          <p:cNvPicPr>
            <a:picLocks noChangeAspect="1"/>
          </p:cNvPicPr>
          <p:nvPr/>
        </p:nvPicPr>
        <p:blipFill>
          <a:blip r:embed="rId5" cstate="print"/>
          <a:srcRect l="10969" r="20650"/>
          <a:stretch>
            <a:fillRect/>
          </a:stretch>
        </p:blipFill>
        <p:spPr>
          <a:xfrm flipH="1">
            <a:off x="564320" y="631080"/>
            <a:ext cx="5882641" cy="5735112"/>
          </a:xfrm>
          <a:prstGeom prst="rect">
            <a:avLst/>
          </a:prstGeom>
        </p:spPr>
      </p:pic>
      <p:pic>
        <p:nvPicPr>
          <p:cNvPr id="2097156" name="Picture 27" descr="A yellow sign with blue and black lines  AI-generated content may be incorrect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3231" y="619660"/>
            <a:ext cx="696004" cy="599966"/>
          </a:xfrm>
          <a:prstGeom prst="rect">
            <a:avLst/>
          </a:prstGeom>
        </p:spPr>
      </p:pic>
      <p:pic>
        <p:nvPicPr>
          <p:cNvPr id="2097157" name="Picture 28" descr="A close up of a logo  AI-generated content may be incorrect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5861" y="695122"/>
            <a:ext cx="1380636" cy="449042"/>
          </a:xfrm>
          <a:prstGeom prst="rect">
            <a:avLst/>
          </a:prstGeom>
        </p:spPr>
      </p:pic>
      <p:pic>
        <p:nvPicPr>
          <p:cNvPr id="2097158" name="Picture 3" descr="A blue and white logo  AI-generated content may be incorrect.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7070131" y="642644"/>
            <a:ext cx="838995" cy="553998"/>
          </a:xfrm>
          <a:prstGeom prst="rect">
            <a:avLst/>
          </a:prstGeom>
        </p:spPr>
      </p:pic>
      <p:sp>
        <p:nvSpPr>
          <p:cNvPr id="1048587" name="TextShape 1"/>
          <p:cNvSpPr txBox="1"/>
          <p:nvPr/>
        </p:nvSpPr>
        <p:spPr>
          <a:xfrm>
            <a:off x="6589005" y="2411131"/>
            <a:ext cx="5435751" cy="128789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Ti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en-US" sz="4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Weather-Adaptive control system for centralized boiler</a:t>
            </a:r>
          </a:p>
          <a:p>
            <a:pPr algn="l">
              <a:lnSpc>
                <a:spcPct val="90000"/>
              </a:lnSpc>
            </a:pPr>
            <a:endParaRPr lang="zh-CN" altLang="en-US" dirty="0"/>
          </a:p>
          <a:p>
            <a:pPr algn="l">
              <a:lnSpc>
                <a:spcPct val="90000"/>
              </a:lnSpc>
            </a:pPr>
            <a:r>
              <a:rPr lang="en-US" sz="3000" b="1" dirty="0">
                <a:solidFill>
                  <a:srgbClr val="21316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 ID:</a:t>
            </a:r>
            <a:r>
              <a:rPr lang="en-US" sz="3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Team_13992</a:t>
            </a:r>
          </a:p>
        </p:txBody>
      </p:sp>
      <p:sp>
        <p:nvSpPr>
          <p:cNvPr id="1048588" name="TextBox 4"/>
          <p:cNvSpPr txBox="1"/>
          <p:nvPr/>
        </p:nvSpPr>
        <p:spPr>
          <a:xfrm>
            <a:off x="6589005" y="3965822"/>
            <a:ext cx="5674017" cy="14249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IN" sz="3000" b="1" dirty="0">
                <a:solidFill>
                  <a:srgbClr val="21316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 Leader : </a:t>
            </a:r>
            <a:r>
              <a:rPr lang="en-IN" sz="30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Kashish</a:t>
            </a:r>
            <a:r>
              <a:rPr lang="en-IN" sz="3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3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Gupta</a:t>
            </a:r>
            <a:endParaRPr lang="en-IN" sz="3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endParaRPr lang="en-IN" sz="3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en-IN" sz="3000" b="1" dirty="0">
                <a:solidFill>
                  <a:srgbClr val="21316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 </a:t>
            </a:r>
            <a:r>
              <a:rPr lang="en-IN" sz="3000" b="1" dirty="0" err="1">
                <a:solidFill>
                  <a:srgbClr val="21316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Member:</a:t>
            </a:r>
            <a:r>
              <a:rPr lang="en-IN" sz="30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Vedanshi</a:t>
            </a:r>
            <a:r>
              <a:rPr lang="en-IN" sz="3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Desai</a:t>
            </a:r>
          </a:p>
        </p:txBody>
      </p:sp>
      <p:sp>
        <p:nvSpPr>
          <p:cNvPr id="1048589" name="TextBox 5"/>
          <p:cNvSpPr txBox="1"/>
          <p:nvPr/>
        </p:nvSpPr>
        <p:spPr>
          <a:xfrm>
            <a:off x="6589004" y="4913516"/>
            <a:ext cx="5674018" cy="18186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IN" sz="1600" i="1" dirty="0">
              <a:solidFill>
                <a:srgbClr val="002060"/>
              </a:solidFill>
            </a:endParaRPr>
          </a:p>
          <a:p>
            <a:endParaRPr lang="en-IN" sz="1600" i="1" dirty="0">
              <a:solidFill>
                <a:srgbClr val="002060"/>
              </a:solidFill>
            </a:endParaRPr>
          </a:p>
          <a:p>
            <a:endParaRPr lang="en-IN" sz="1600" i="1" dirty="0">
              <a:solidFill>
                <a:srgbClr val="002060"/>
              </a:solidFill>
            </a:endParaRPr>
          </a:p>
          <a:p>
            <a:r>
              <a:rPr lang="en-US" sz="30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M</a:t>
            </a:r>
            <a:r>
              <a:rPr lang="en-IN" sz="3000" b="1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entor</a:t>
            </a:r>
            <a:r>
              <a:rPr lang="en-IN" sz="30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Name: </a:t>
            </a:r>
            <a:r>
              <a:rPr lang="en-IN" sz="3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Mr.</a:t>
            </a:r>
            <a:r>
              <a:rPr lang="en-IN" sz="16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 </a:t>
            </a:r>
            <a:r>
              <a:rPr lang="en-IN" sz="3000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Palwinder</a:t>
            </a:r>
            <a:r>
              <a:rPr lang="en-IN" sz="3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 </a:t>
            </a:r>
            <a:endParaRPr lang="en-IN" sz="1600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rgbClr val="002060"/>
              </a:solidFill>
            </a:endParaRPr>
          </a:p>
          <a:p>
            <a:endParaRPr lang="en-IN" dirty="0">
              <a:solidFill>
                <a:srgbClr val="00206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object 2"/>
          <p:cNvSpPr txBox="1">
            <a:spLocks noGrp="1"/>
          </p:cNvSpPr>
          <p:nvPr>
            <p:ph type="title"/>
          </p:nvPr>
        </p:nvSpPr>
        <p:spPr>
          <a:xfrm>
            <a:off x="0" y="845438"/>
            <a:ext cx="6590105" cy="998350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586740" indent="-571500">
              <a:spcBef>
                <a:spcPts val="105"/>
              </a:spcBef>
              <a:buFont typeface="Wingdings" panose="05000000000000000000" pitchFamily="2" charset="2"/>
              <a:buChar char="v"/>
            </a:pPr>
            <a:r>
              <a:rPr lang="en-IN" sz="4400" spc="-10" dirty="0">
                <a:solidFill>
                  <a:srgbClr val="001F5F"/>
                </a:solidFill>
              </a:rPr>
              <a:t>Project Objectives</a:t>
            </a:r>
            <a:br>
              <a:rPr lang="en-IN" dirty="0"/>
            </a:br>
            <a:endParaRPr lang="en-US" dirty="0"/>
          </a:p>
        </p:txBody>
      </p:sp>
      <p:sp>
        <p:nvSpPr>
          <p:cNvPr id="1048594" name="object 3"/>
          <p:cNvSpPr txBox="1"/>
          <p:nvPr/>
        </p:nvSpPr>
        <p:spPr>
          <a:xfrm>
            <a:off x="94339" y="1843788"/>
            <a:ext cx="6109691" cy="467820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600" dirty="0">
                <a:latin typeface="Arial"/>
                <a:cs typeface="Arial"/>
              </a:rPr>
              <a:t>Problem Statement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600" dirty="0">
                <a:latin typeface="Arial"/>
                <a:cs typeface="Arial"/>
              </a:rPr>
              <a:t>Project Overview 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600" dirty="0">
                <a:latin typeface="Arial"/>
                <a:cs typeface="Arial"/>
              </a:rPr>
              <a:t>End Users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600" dirty="0">
                <a:latin typeface="Arial"/>
                <a:cs typeface="Arial"/>
              </a:rPr>
              <a:t>Wow Factor in Project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600" dirty="0">
                <a:latin typeface="Arial"/>
                <a:cs typeface="Arial"/>
              </a:rPr>
              <a:t>Block Diagram 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600" dirty="0">
                <a:latin typeface="Arial"/>
                <a:cs typeface="Arial"/>
              </a:rPr>
              <a:t>Outcomes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600" dirty="0">
                <a:latin typeface="Arial"/>
                <a:cs typeface="Arial"/>
              </a:rPr>
              <a:t>Conclusion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sz="2600" dirty="0">
                <a:latin typeface="Arial"/>
                <a:cs typeface="Arial"/>
              </a:rPr>
              <a:t>Future Perspective</a:t>
            </a: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endParaRPr lang="en-US" dirty="0">
              <a:latin typeface="Arial"/>
              <a:cs typeface="Arial"/>
            </a:endParaRP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endParaRPr dirty="0">
              <a:latin typeface="Arial"/>
              <a:cs typeface="Arial"/>
            </a:endParaRPr>
          </a:p>
        </p:txBody>
      </p:sp>
      <p:grpSp>
        <p:nvGrpSpPr>
          <p:cNvPr id="22" name="Group 3"/>
          <p:cNvGrpSpPr/>
          <p:nvPr/>
        </p:nvGrpSpPr>
        <p:grpSpPr>
          <a:xfrm>
            <a:off x="6494689" y="1447800"/>
            <a:ext cx="5439319" cy="3480707"/>
            <a:chOff x="4572000" y="1352550"/>
            <a:chExt cx="3916680" cy="2506346"/>
          </a:xfrm>
        </p:grpSpPr>
        <p:pic>
          <p:nvPicPr>
            <p:cNvPr id="2097159" name="Picture 12" descr="A group of icons with graphs and charts  AI-generated content may be incorrect.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0" y="1352550"/>
              <a:ext cx="2258483" cy="1383030"/>
            </a:xfrm>
            <a:prstGeom prst="rect">
              <a:avLst/>
            </a:prstGeom>
          </p:spPr>
        </p:pic>
        <p:pic>
          <p:nvPicPr>
            <p:cNvPr id="2097160" name="Picture 13" descr="A blue arrow hitting a yellow and white target  AI-generated content may be incorrect.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45180" y="2052032"/>
              <a:ext cx="2343500" cy="1806864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3"/>
          <p:cNvSpPr>
            <a:spLocks noGrp="1"/>
          </p:cNvSpPr>
          <p:nvPr>
            <p:ph type="title" idx="4294967295"/>
          </p:nvPr>
        </p:nvSpPr>
        <p:spPr>
          <a:xfrm>
            <a:off x="0" y="814387"/>
            <a:ext cx="12191999" cy="629593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Problem Statement : </a:t>
            </a:r>
            <a:endParaRPr lang="en-US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1048599" name="object 3"/>
          <p:cNvSpPr txBox="1"/>
          <p:nvPr/>
        </p:nvSpPr>
        <p:spPr>
          <a:xfrm>
            <a:off x="0" y="1443981"/>
            <a:ext cx="12192000" cy="71198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endParaRPr lang="en-IN" sz="2600" dirty="0">
              <a:latin typeface="Arial"/>
              <a:cs typeface="Arial"/>
            </a:endParaRP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In many places, centralized boiler systems run at the same heating level all the time.</a:t>
            </a: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They do not adjust according to temperature changes or actual water demand.</a:t>
            </a: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Because of this:</a:t>
            </a: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A lot of electricity is wasted.</a:t>
            </a: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Heating becomes uneven.</a:t>
            </a: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Maintenance increases.</a:t>
            </a: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Safety risks may occur.</a:t>
            </a:r>
          </a:p>
          <a:p>
            <a:pPr marL="285750" indent="-28575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So, there is a need for a smart system that can automatically control the boiler based on temperature and usage conditions.</a:t>
            </a:r>
          </a:p>
          <a:p>
            <a:pPr marL="285750" indent="-28575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endParaRPr lang="en-IN" dirty="0">
              <a:latin typeface="Arial"/>
              <a:cs typeface="Arial"/>
            </a:endParaRPr>
          </a:p>
          <a:p>
            <a:pPr marL="285750" indent="-28575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endParaRPr lang="en-IN" dirty="0">
              <a:latin typeface="Arial"/>
              <a:cs typeface="Arial"/>
            </a:endParaRPr>
          </a:p>
          <a:p>
            <a:pPr marL="285750" indent="-28575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endParaRPr lang="en-IN" dirty="0">
              <a:latin typeface="Arial"/>
              <a:cs typeface="Arial"/>
            </a:endParaRPr>
          </a:p>
          <a:p>
            <a:pPr marL="285750" indent="-28575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endParaRPr lang="en-IN" dirty="0">
              <a:latin typeface="Arial"/>
              <a:cs typeface="Arial"/>
            </a:endParaRPr>
          </a:p>
          <a:p>
            <a:pPr marL="285750" indent="-28575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endParaRPr dirty="0"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3"/>
          <p:cNvSpPr>
            <a:spLocks noGrp="1"/>
          </p:cNvSpPr>
          <p:nvPr>
            <p:ph type="title" idx="4294967295"/>
          </p:nvPr>
        </p:nvSpPr>
        <p:spPr>
          <a:xfrm>
            <a:off x="-81023" y="805094"/>
            <a:ext cx="12192000" cy="629593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400" b="1" dirty="0">
                <a:solidFill>
                  <a:srgbClr val="21316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Project Overview :</a:t>
            </a:r>
            <a:endParaRPr lang="en-US" sz="4400" b="1" dirty="0">
              <a:solidFill>
                <a:srgbClr val="21316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1048604" name="object 3"/>
          <p:cNvSpPr txBox="1"/>
          <p:nvPr/>
        </p:nvSpPr>
        <p:spPr>
          <a:xfrm>
            <a:off x="0" y="1119891"/>
            <a:ext cx="12192000" cy="610423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endParaRPr lang="en-IN" sz="2600" dirty="0">
              <a:latin typeface="Arial"/>
              <a:cs typeface="Arial"/>
            </a:endParaRP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Our project is based on IoT technology to make the boiler system smarter and more efficient.</a:t>
            </a: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We have used:</a:t>
            </a: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A temperature sensor(DH18B20) to measure water temperature.</a:t>
            </a: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r>
              <a:rPr lang="en-IN" sz="2600" dirty="0">
                <a:latin typeface="+mn-lt"/>
              </a:rPr>
              <a:t>Water Flow Sensor </a:t>
            </a:r>
            <a:r>
              <a:rPr lang="en-IN" sz="2800" dirty="0"/>
              <a:t>to monitor the flow rate of water in the system</a:t>
            </a:r>
            <a:endParaRPr lang="en-IN" sz="2600" dirty="0">
              <a:latin typeface="Arial"/>
              <a:cs typeface="Arial"/>
            </a:endParaRP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ESP32 microcontroller to process data.</a:t>
            </a: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A relay module to control the boiler.</a:t>
            </a: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Weather API to fetch real-time environmental temperature.</a:t>
            </a:r>
          </a:p>
          <a:p>
            <a:pPr marL="285750" indent="-28575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The system automatically turns the boiler ON or OFF depending on the temperature.</a:t>
            </a:r>
          </a:p>
          <a:p>
            <a:pPr marL="285750" indent="-28575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This helps in saving energy and reducing manual effort.</a:t>
            </a:r>
          </a:p>
          <a:p>
            <a:pPr marL="400050" indent="-40005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endParaRPr lang="en-IN" dirty="0">
              <a:latin typeface="Arial"/>
              <a:cs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5610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3"/>
          <p:cNvSpPr>
            <a:spLocks noGrp="1"/>
          </p:cNvSpPr>
          <p:nvPr>
            <p:ph type="title" idx="4294967295"/>
          </p:nvPr>
        </p:nvSpPr>
        <p:spPr>
          <a:xfrm>
            <a:off x="0" y="814387"/>
            <a:ext cx="12192000" cy="629593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400" b="1" dirty="0">
                <a:solidFill>
                  <a:srgbClr val="21316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End</a:t>
            </a:r>
            <a:r>
              <a:rPr lang="en-IN" sz="4400" b="1" dirty="0">
                <a:solidFill>
                  <a:srgbClr val="213163"/>
                </a:solidFill>
                <a:latin typeface="+mj-lt"/>
              </a:rPr>
              <a:t> </a:t>
            </a:r>
            <a:r>
              <a:rPr lang="en-IN" sz="4400" b="1" dirty="0">
                <a:solidFill>
                  <a:srgbClr val="21316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User</a:t>
            </a:r>
            <a:r>
              <a:rPr lang="en-IN" sz="4400" b="1" dirty="0">
                <a:solidFill>
                  <a:srgbClr val="213163"/>
                </a:solidFill>
                <a:latin typeface="+mj-lt"/>
              </a:rPr>
              <a:t> :</a:t>
            </a:r>
            <a:endParaRPr lang="en-US" sz="4400" b="1" dirty="0">
              <a:solidFill>
                <a:srgbClr val="213163"/>
              </a:solidFill>
              <a:latin typeface="+mj-lt"/>
            </a:endParaRPr>
          </a:p>
        </p:txBody>
      </p:sp>
      <p:sp>
        <p:nvSpPr>
          <p:cNvPr id="1048609" name="object 3"/>
          <p:cNvSpPr txBox="1"/>
          <p:nvPr/>
        </p:nvSpPr>
        <p:spPr>
          <a:xfrm>
            <a:off x="-1" y="1443981"/>
            <a:ext cx="12192000" cy="592982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endParaRPr lang="en-IN" sz="2600" dirty="0">
              <a:latin typeface="Arial"/>
              <a:cs typeface="Arial"/>
            </a:endParaRP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This system can be useful for:</a:t>
            </a: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Apartments</a:t>
            </a: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Hotels</a:t>
            </a: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Hospitals</a:t>
            </a: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Hostels</a:t>
            </a: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Small industries</a:t>
            </a: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Commercial buildings</a:t>
            </a:r>
          </a:p>
          <a:p>
            <a:pPr marL="285750" indent="-28575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Basically, any place where centralized 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   boilers are used.</a:t>
            </a:r>
          </a:p>
          <a:p>
            <a:pPr marL="285750" indent="-28575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endParaRPr lang="en-IN" sz="2600" dirty="0">
              <a:latin typeface="Arial"/>
              <a:cs typeface="Arial"/>
            </a:endParaRPr>
          </a:p>
          <a:p>
            <a:pPr marL="285750" indent="-28575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endParaRPr lang="en-IN" sz="2600" dirty="0">
              <a:latin typeface="Arial"/>
              <a:cs typeface="Arial"/>
            </a:endParaRPr>
          </a:p>
        </p:txBody>
      </p:sp>
      <p:pic>
        <p:nvPicPr>
          <p:cNvPr id="2097161" name="Picture 2097160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003201" y="1336193"/>
            <a:ext cx="4471168" cy="407782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3"/>
          <p:cNvSpPr>
            <a:spLocks noGrp="1"/>
          </p:cNvSpPr>
          <p:nvPr>
            <p:ph type="title" idx="4294967295"/>
          </p:nvPr>
        </p:nvSpPr>
        <p:spPr>
          <a:xfrm>
            <a:off x="1" y="694482"/>
            <a:ext cx="12191999" cy="7495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400" b="1" dirty="0">
                <a:solidFill>
                  <a:srgbClr val="21316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Wow factor :</a:t>
            </a:r>
            <a:endParaRPr lang="en-US" sz="4400" b="1" dirty="0">
              <a:solidFill>
                <a:srgbClr val="21316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1048614" name="object 3"/>
          <p:cNvSpPr txBox="1"/>
          <p:nvPr/>
        </p:nvSpPr>
        <p:spPr>
          <a:xfrm>
            <a:off x="-2" y="1126330"/>
            <a:ext cx="12192001" cy="779700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83210" indent="-283210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endParaRPr lang="en-IN" sz="2600" dirty="0">
              <a:latin typeface="Arial"/>
              <a:cs typeface="Arial"/>
            </a:endParaRPr>
          </a:p>
          <a:p>
            <a:pPr marL="283210" indent="-283210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Automatic temperature-based control.</a:t>
            </a:r>
          </a:p>
          <a:p>
            <a:pPr marL="283210" indent="-283210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IN" sz="2600" dirty="0" err="1">
                <a:latin typeface="Arial"/>
                <a:cs typeface="Arial"/>
              </a:rPr>
              <a:t>Intergation</a:t>
            </a:r>
            <a:r>
              <a:rPr lang="en-IN" sz="2600" dirty="0">
                <a:latin typeface="Arial"/>
                <a:cs typeface="Arial"/>
              </a:rPr>
              <a:t> with Weather API for real-time environmental 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   monitoring.</a:t>
            </a:r>
          </a:p>
          <a:p>
            <a:pPr marL="283210" indent="-283210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No need for constant manual monitoring.</a:t>
            </a:r>
          </a:p>
          <a:p>
            <a:pPr marL="283210" indent="-283210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Energy-saving solution.</a:t>
            </a:r>
          </a:p>
          <a:p>
            <a:pPr marL="283210" indent="-283210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Cost-effective hardware components.</a:t>
            </a:r>
          </a:p>
          <a:p>
            <a:pPr marL="283210" indent="-283210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Can be upgraded easily in the future.</a:t>
            </a:r>
          </a:p>
          <a:p>
            <a:pPr marL="283210" indent="-283210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IN" sz="2800" dirty="0"/>
              <a:t>Continuous monitoring of temperature and water flow displayed live on graphical charts on our website dashboard.</a:t>
            </a:r>
            <a:endParaRPr lang="en-IN" sz="2600" dirty="0">
              <a:latin typeface="Arial"/>
              <a:cs typeface="Arial"/>
            </a:endParaRPr>
          </a:p>
          <a:p>
            <a:pPr marL="283210" indent="-283210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The main highlight is that it makes a normal boiler system smart using simple IoT components.</a:t>
            </a:r>
          </a:p>
          <a:p>
            <a:pPr marL="283210" indent="-283210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endParaRPr lang="en-IN" sz="2600" dirty="0">
              <a:latin typeface="Arial"/>
              <a:cs typeface="Arial"/>
            </a:endParaRPr>
          </a:p>
          <a:p>
            <a:pPr marL="283210" indent="-283210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endParaRPr lang="en-IN" sz="2600" dirty="0">
              <a:latin typeface="Arial"/>
              <a:cs typeface="Arial"/>
            </a:endParaRPr>
          </a:p>
          <a:p>
            <a:pPr marL="283210" indent="-283210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endParaRPr lang="en-IN" sz="2600" dirty="0">
              <a:latin typeface="Arial"/>
              <a:cs typeface="Arial"/>
            </a:endParaRPr>
          </a:p>
          <a:p>
            <a:pPr marL="283210" indent="-283210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endParaRPr sz="2600" dirty="0"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3"/>
          <p:cNvSpPr>
            <a:spLocks noGrp="1"/>
          </p:cNvSpPr>
          <p:nvPr>
            <p:ph type="title" idx="4294967295"/>
          </p:nvPr>
        </p:nvSpPr>
        <p:spPr>
          <a:xfrm>
            <a:off x="0" y="814388"/>
            <a:ext cx="12191999" cy="771344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b="1" dirty="0">
                <a:solidFill>
                  <a:srgbClr val="213163"/>
                </a:solidFill>
                <a:latin typeface="+mj-lt"/>
              </a:rPr>
              <a:t>Block Diagram</a:t>
            </a:r>
          </a:p>
        </p:txBody>
      </p:sp>
      <p:sp>
        <p:nvSpPr>
          <p:cNvPr id="1048619" name="object 3"/>
          <p:cNvSpPr txBox="1"/>
          <p:nvPr/>
        </p:nvSpPr>
        <p:spPr>
          <a:xfrm>
            <a:off x="0" y="1585732"/>
            <a:ext cx="12192000" cy="505460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US" dirty="0">
                <a:latin typeface="Arial"/>
                <a:cs typeface="Arial"/>
              </a:rPr>
              <a:t> 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endParaRPr lang="en-US" dirty="0">
              <a:latin typeface="Arial"/>
              <a:cs typeface="Arial"/>
            </a:endParaRP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endParaRPr lang="en-US" dirty="0">
              <a:latin typeface="Arial"/>
              <a:cs typeface="Arial"/>
            </a:endParaRP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endParaRPr lang="en-US" dirty="0">
              <a:latin typeface="Arial"/>
              <a:cs typeface="Arial"/>
            </a:endParaRP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endParaRPr lang="en-US" dirty="0">
              <a:latin typeface="Arial"/>
              <a:cs typeface="Arial"/>
            </a:endParaRP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endParaRPr lang="en-US" dirty="0">
              <a:latin typeface="Arial"/>
              <a:cs typeface="Arial"/>
            </a:endParaRP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endParaRPr lang="en-US" dirty="0">
              <a:latin typeface="Arial"/>
              <a:cs typeface="Arial"/>
            </a:endParaRP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endParaRPr lang="en-US" dirty="0">
              <a:latin typeface="Arial"/>
              <a:cs typeface="Arial"/>
            </a:endParaRP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endParaRPr lang="en-US" dirty="0">
              <a:latin typeface="Arial"/>
              <a:cs typeface="Arial"/>
            </a:endParaRP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endParaRPr lang="en-US" dirty="0">
              <a:latin typeface="Arial"/>
              <a:cs typeface="Arial"/>
            </a:endParaRP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endParaRPr lang="en-US" dirty="0">
              <a:latin typeface="Arial"/>
              <a:cs typeface="Arial"/>
            </a:endParaRP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endParaRPr lang="en-US" dirty="0">
              <a:latin typeface="Arial"/>
              <a:cs typeface="Arial"/>
            </a:endParaRP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endParaRPr lang="en-US" dirty="0">
              <a:latin typeface="Arial"/>
              <a:cs typeface="Arial"/>
            </a:endParaRP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endParaRPr lang="en-IN" dirty="0">
              <a:latin typeface="Arial"/>
              <a:cs typeface="Arial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9F3700D-048B-4A77-B8E6-4407C768AD6C}"/>
              </a:ext>
            </a:extLst>
          </p:cNvPr>
          <p:cNvCxnSpPr/>
          <p:nvPr/>
        </p:nvCxnSpPr>
        <p:spPr>
          <a:xfrm>
            <a:off x="7766612" y="2170254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857E028E-1B20-49FC-BD16-C0671C6A6B88}"/>
              </a:ext>
            </a:extLst>
          </p:cNvPr>
          <p:cNvSpPr/>
          <p:nvPr/>
        </p:nvSpPr>
        <p:spPr>
          <a:xfrm>
            <a:off x="2473772" y="1759352"/>
            <a:ext cx="3275635" cy="532436"/>
          </a:xfrm>
          <a:prstGeom prst="rect">
            <a:avLst/>
          </a:prstGeom>
          <a:solidFill>
            <a:srgbClr val="DFEEF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Temperature  Sensor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(DS18B20)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F989CC-F6BC-4EFE-A6C1-07A394E08446}"/>
              </a:ext>
            </a:extLst>
          </p:cNvPr>
          <p:cNvSpPr/>
          <p:nvPr/>
        </p:nvSpPr>
        <p:spPr>
          <a:xfrm>
            <a:off x="2456411" y="2430421"/>
            <a:ext cx="3292996" cy="532436"/>
          </a:xfrm>
          <a:prstGeom prst="rect">
            <a:avLst/>
          </a:prstGeom>
          <a:solidFill>
            <a:srgbClr val="DFEEF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Water Flow Sensor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(YF-S201)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FC6479-63CA-4D71-A8CA-C932871DB6A1}"/>
              </a:ext>
            </a:extLst>
          </p:cNvPr>
          <p:cNvSpPr/>
          <p:nvPr/>
        </p:nvSpPr>
        <p:spPr>
          <a:xfrm>
            <a:off x="2456411" y="3141956"/>
            <a:ext cx="3275635" cy="532436"/>
          </a:xfrm>
          <a:prstGeom prst="rect">
            <a:avLst/>
          </a:prstGeom>
          <a:solidFill>
            <a:srgbClr val="DFEEF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Weather API (Fetch Env. Temperature &amp; Humidity)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DD4CE0-EF05-41C9-A203-81CE5FB1C379}"/>
              </a:ext>
            </a:extLst>
          </p:cNvPr>
          <p:cNvSpPr/>
          <p:nvPr/>
        </p:nvSpPr>
        <p:spPr>
          <a:xfrm>
            <a:off x="8360780" y="1950184"/>
            <a:ext cx="3402957" cy="1006997"/>
          </a:xfrm>
          <a:prstGeom prst="roundRect">
            <a:avLst/>
          </a:prstGeom>
          <a:solidFill>
            <a:srgbClr val="DFEEF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ESP32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(Data Processing &amp; Set Limit Check)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30C97300-53F0-4FB2-B082-EFAFF933E338}"/>
              </a:ext>
            </a:extLst>
          </p:cNvPr>
          <p:cNvSpPr/>
          <p:nvPr/>
        </p:nvSpPr>
        <p:spPr>
          <a:xfrm>
            <a:off x="8561411" y="3212126"/>
            <a:ext cx="2986268" cy="1377387"/>
          </a:xfrm>
          <a:prstGeom prst="diamond">
            <a:avLst/>
          </a:prstGeom>
          <a:solidFill>
            <a:srgbClr val="DFEEF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Temperature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&gt;= Set Limit?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3BEB4F5-2E75-4DC0-94E8-981B6D932759}"/>
              </a:ext>
            </a:extLst>
          </p:cNvPr>
          <p:cNvSpPr/>
          <p:nvPr/>
        </p:nvSpPr>
        <p:spPr>
          <a:xfrm>
            <a:off x="5478685" y="4789530"/>
            <a:ext cx="2476982" cy="462988"/>
          </a:xfrm>
          <a:prstGeom prst="roundRect">
            <a:avLst/>
          </a:prstGeom>
          <a:solidFill>
            <a:srgbClr val="DFEEF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Relay Module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320971-ACEE-412E-B4E6-BFBFE4D17F9D}"/>
              </a:ext>
            </a:extLst>
          </p:cNvPr>
          <p:cNvSpPr/>
          <p:nvPr/>
        </p:nvSpPr>
        <p:spPr>
          <a:xfrm>
            <a:off x="2739342" y="5479346"/>
            <a:ext cx="1821085" cy="462988"/>
          </a:xfrm>
          <a:prstGeom prst="rect">
            <a:avLst/>
          </a:prstGeom>
          <a:solidFill>
            <a:srgbClr val="DFEEF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Boiler OFF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883B7C-ADBA-455A-98E9-08A2D5CED7E8}"/>
              </a:ext>
            </a:extLst>
          </p:cNvPr>
          <p:cNvSpPr/>
          <p:nvPr/>
        </p:nvSpPr>
        <p:spPr>
          <a:xfrm>
            <a:off x="8920229" y="5473815"/>
            <a:ext cx="1821085" cy="462988"/>
          </a:xfrm>
          <a:prstGeom prst="rect">
            <a:avLst/>
          </a:prstGeom>
          <a:solidFill>
            <a:srgbClr val="DFEEF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Boiler 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255C8FC-56D8-4E16-B5F6-3B7AC10EB1C7}"/>
              </a:ext>
            </a:extLst>
          </p:cNvPr>
          <p:cNvSpPr/>
          <p:nvPr/>
        </p:nvSpPr>
        <p:spPr>
          <a:xfrm>
            <a:off x="6186667" y="6378604"/>
            <a:ext cx="1169043" cy="368481"/>
          </a:xfrm>
          <a:prstGeom prst="roundRect">
            <a:avLst/>
          </a:prstGeom>
          <a:solidFill>
            <a:srgbClr val="DFEEF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Stop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826D27B-6866-4FDD-A084-2D381D1686FD}"/>
              </a:ext>
            </a:extLst>
          </p:cNvPr>
          <p:cNvCxnSpPr>
            <a:cxnSpLocks/>
          </p:cNvCxnSpPr>
          <p:nvPr/>
        </p:nvCxnSpPr>
        <p:spPr>
          <a:xfrm>
            <a:off x="5749407" y="1944547"/>
            <a:ext cx="76631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25DF62E-7E16-4446-91D0-248F553BC63D}"/>
              </a:ext>
            </a:extLst>
          </p:cNvPr>
          <p:cNvCxnSpPr>
            <a:cxnSpLocks/>
          </p:cNvCxnSpPr>
          <p:nvPr/>
        </p:nvCxnSpPr>
        <p:spPr>
          <a:xfrm>
            <a:off x="6515719" y="1944547"/>
            <a:ext cx="0" cy="14500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0F9EAE7-4B48-465D-8C1C-3809602C4550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5732046" y="3394638"/>
            <a:ext cx="783673" cy="1353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43752FA-DA79-4B27-BE96-01493A1C23DB}"/>
              </a:ext>
            </a:extLst>
          </p:cNvPr>
          <p:cNvCxnSpPr>
            <a:cxnSpLocks/>
          </p:cNvCxnSpPr>
          <p:nvPr/>
        </p:nvCxnSpPr>
        <p:spPr>
          <a:xfrm>
            <a:off x="6515719" y="2703178"/>
            <a:ext cx="18757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48608" name="Straight Arrow Connector 1048607">
            <a:extLst>
              <a:ext uri="{FF2B5EF4-FFF2-40B4-BE49-F238E27FC236}">
                <a16:creationId xmlns:a16="http://schemas.microsoft.com/office/drawing/2014/main" id="{904556AC-935A-4024-9C41-7574D7D78BE9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0054545" y="2957181"/>
            <a:ext cx="0" cy="2549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48621" name="Straight Connector 1048620">
            <a:extLst>
              <a:ext uri="{FF2B5EF4-FFF2-40B4-BE49-F238E27FC236}">
                <a16:creationId xmlns:a16="http://schemas.microsoft.com/office/drawing/2014/main" id="{6F39606C-34C4-4218-A4D8-2C38BFD6168E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6771190" y="3900820"/>
            <a:ext cx="1790221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48623" name="Straight Arrow Connector 1048622">
            <a:extLst>
              <a:ext uri="{FF2B5EF4-FFF2-40B4-BE49-F238E27FC236}">
                <a16:creationId xmlns:a16="http://schemas.microsoft.com/office/drawing/2014/main" id="{B3B99BEB-A6C0-4DC4-B3EC-98F654B7C513}"/>
              </a:ext>
            </a:extLst>
          </p:cNvPr>
          <p:cNvCxnSpPr>
            <a:cxnSpLocks/>
          </p:cNvCxnSpPr>
          <p:nvPr/>
        </p:nvCxnSpPr>
        <p:spPr>
          <a:xfrm>
            <a:off x="6771190" y="3900820"/>
            <a:ext cx="0" cy="8887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48631" name="Straight Connector 1048630">
            <a:extLst>
              <a:ext uri="{FF2B5EF4-FFF2-40B4-BE49-F238E27FC236}">
                <a16:creationId xmlns:a16="http://schemas.microsoft.com/office/drawing/2014/main" id="{4C9EFE55-6620-49E5-8B50-BD21AC4F194D}"/>
              </a:ext>
            </a:extLst>
          </p:cNvPr>
          <p:cNvCxnSpPr/>
          <p:nvPr/>
        </p:nvCxnSpPr>
        <p:spPr>
          <a:xfrm flipH="1">
            <a:off x="3649885" y="4963150"/>
            <a:ext cx="18288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DDE5A18-EECC-46F7-B972-B81EA95C925E}"/>
              </a:ext>
            </a:extLst>
          </p:cNvPr>
          <p:cNvCxnSpPr/>
          <p:nvPr/>
        </p:nvCxnSpPr>
        <p:spPr>
          <a:xfrm flipH="1">
            <a:off x="7955667" y="4963150"/>
            <a:ext cx="18288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48634" name="Straight Arrow Connector 1048633">
            <a:extLst>
              <a:ext uri="{FF2B5EF4-FFF2-40B4-BE49-F238E27FC236}">
                <a16:creationId xmlns:a16="http://schemas.microsoft.com/office/drawing/2014/main" id="{FD87B75A-E0EA-4144-AF63-0859B0BF2346}"/>
              </a:ext>
            </a:extLst>
          </p:cNvPr>
          <p:cNvCxnSpPr/>
          <p:nvPr/>
        </p:nvCxnSpPr>
        <p:spPr>
          <a:xfrm>
            <a:off x="3649885" y="4963150"/>
            <a:ext cx="0" cy="5111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A1ED735-455A-4C44-929E-BEB5F1B2D20C}"/>
              </a:ext>
            </a:extLst>
          </p:cNvPr>
          <p:cNvCxnSpPr/>
          <p:nvPr/>
        </p:nvCxnSpPr>
        <p:spPr>
          <a:xfrm>
            <a:off x="9784467" y="4963150"/>
            <a:ext cx="0" cy="5111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48636" name="Straight Arrow Connector 1048635">
            <a:extLst>
              <a:ext uri="{FF2B5EF4-FFF2-40B4-BE49-F238E27FC236}">
                <a16:creationId xmlns:a16="http://schemas.microsoft.com/office/drawing/2014/main" id="{F0933B81-9C12-45F8-838C-2E65C67A10EE}"/>
              </a:ext>
            </a:extLst>
          </p:cNvPr>
          <p:cNvCxnSpPr>
            <a:cxnSpLocks/>
          </p:cNvCxnSpPr>
          <p:nvPr/>
        </p:nvCxnSpPr>
        <p:spPr>
          <a:xfrm>
            <a:off x="6771189" y="5252518"/>
            <a:ext cx="0" cy="11260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48637" name="Rectangle 1048636">
            <a:extLst>
              <a:ext uri="{FF2B5EF4-FFF2-40B4-BE49-F238E27FC236}">
                <a16:creationId xmlns:a16="http://schemas.microsoft.com/office/drawing/2014/main" id="{F31475C9-9AC6-453D-BBC6-BFF853B6278A}"/>
              </a:ext>
            </a:extLst>
          </p:cNvPr>
          <p:cNvSpPr/>
          <p:nvPr/>
        </p:nvSpPr>
        <p:spPr>
          <a:xfrm>
            <a:off x="4294209" y="460486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YES</a:t>
            </a:r>
            <a:endParaRPr lang="en-IN" dirty="0"/>
          </a:p>
        </p:txBody>
      </p:sp>
      <p:sp>
        <p:nvSpPr>
          <p:cNvPr id="1048638" name="Rectangle 1048637">
            <a:extLst>
              <a:ext uri="{FF2B5EF4-FFF2-40B4-BE49-F238E27FC236}">
                <a16:creationId xmlns:a16="http://schemas.microsoft.com/office/drawing/2014/main" id="{05D9C595-28F7-4A5E-8F4C-AB9600998E3F}"/>
              </a:ext>
            </a:extLst>
          </p:cNvPr>
          <p:cNvSpPr/>
          <p:nvPr/>
        </p:nvSpPr>
        <p:spPr>
          <a:xfrm>
            <a:off x="8554447" y="4651692"/>
            <a:ext cx="530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NO</a:t>
            </a:r>
            <a:endParaRPr lang="en-IN" dirty="0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495FAB55-C300-44A0-93F7-5352298CA2AE}"/>
              </a:ext>
            </a:extLst>
          </p:cNvPr>
          <p:cNvSpPr/>
          <p:nvPr/>
        </p:nvSpPr>
        <p:spPr>
          <a:xfrm>
            <a:off x="154900" y="2314292"/>
            <a:ext cx="808378" cy="805161"/>
          </a:xfrm>
          <a:prstGeom prst="roundRect">
            <a:avLst/>
          </a:prstGeom>
          <a:solidFill>
            <a:srgbClr val="DFEEF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Start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A783F0D-4DFE-A2AF-C300-BA6686610D6A}"/>
              </a:ext>
            </a:extLst>
          </p:cNvPr>
          <p:cNvCxnSpPr>
            <a:cxnSpLocks/>
          </p:cNvCxnSpPr>
          <p:nvPr/>
        </p:nvCxnSpPr>
        <p:spPr>
          <a:xfrm flipH="1">
            <a:off x="1715953" y="2025570"/>
            <a:ext cx="14327" cy="140343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14A508E-B475-E762-650E-8A8B7BE77EB4}"/>
              </a:ext>
            </a:extLst>
          </p:cNvPr>
          <p:cNvCxnSpPr>
            <a:endCxn id="2" idx="1"/>
          </p:cNvCxnSpPr>
          <p:nvPr/>
        </p:nvCxnSpPr>
        <p:spPr>
          <a:xfrm>
            <a:off x="1730280" y="2025570"/>
            <a:ext cx="74349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7113517-9EA2-B901-A90F-7976853B00AF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1694346" y="3408174"/>
            <a:ext cx="762065" cy="72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ED12246-1E5F-6EE3-6847-78F3F0AF2E2C}"/>
              </a:ext>
            </a:extLst>
          </p:cNvPr>
          <p:cNvCxnSpPr>
            <a:stCxn id="7" idx="3"/>
          </p:cNvCxnSpPr>
          <p:nvPr/>
        </p:nvCxnSpPr>
        <p:spPr>
          <a:xfrm>
            <a:off x="5749407" y="2696639"/>
            <a:ext cx="76631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04AF48D-71E0-8554-24E4-587BA7F21AF1}"/>
              </a:ext>
            </a:extLst>
          </p:cNvPr>
          <p:cNvCxnSpPr>
            <a:cxnSpLocks/>
            <a:stCxn id="74" idx="3"/>
            <a:endCxn id="7" idx="1"/>
          </p:cNvCxnSpPr>
          <p:nvPr/>
        </p:nvCxnSpPr>
        <p:spPr>
          <a:xfrm flipV="1">
            <a:off x="963278" y="2696639"/>
            <a:ext cx="1493133" cy="202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988758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3"/>
          <p:cNvSpPr>
            <a:spLocks noGrp="1"/>
          </p:cNvSpPr>
          <p:nvPr>
            <p:ph type="title" idx="4294967295"/>
          </p:nvPr>
        </p:nvSpPr>
        <p:spPr>
          <a:xfrm>
            <a:off x="0" y="744939"/>
            <a:ext cx="12192000" cy="629593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rgbClr val="213163"/>
                </a:solidFill>
              </a:rPr>
              <a:t> </a:t>
            </a:r>
            <a:r>
              <a:rPr lang="en-IN" sz="4400" b="1" dirty="0">
                <a:solidFill>
                  <a:srgbClr val="213163"/>
                </a:solidFill>
                <a:latin typeface="+mj-lt"/>
              </a:rPr>
              <a:t>Outcomes</a:t>
            </a:r>
            <a:endParaRPr lang="en-US" sz="4400" b="1" dirty="0">
              <a:solidFill>
                <a:srgbClr val="213163"/>
              </a:solidFill>
              <a:latin typeface="+mj-lt"/>
            </a:endParaRPr>
          </a:p>
        </p:txBody>
      </p:sp>
      <p:sp>
        <p:nvSpPr>
          <p:cNvPr id="1048632" name="object 3"/>
          <p:cNvSpPr txBox="1"/>
          <p:nvPr/>
        </p:nvSpPr>
        <p:spPr>
          <a:xfrm>
            <a:off x="0" y="1272065"/>
            <a:ext cx="12192000" cy="644278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83464" indent="-283464" algn="l"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endParaRPr lang="en-IN" sz="2600" dirty="0">
              <a:latin typeface="Arial"/>
              <a:cs typeface="Arial"/>
            </a:endParaRPr>
          </a:p>
          <a:p>
            <a:pPr marL="283464" indent="-283464" algn="l"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The boiler turns </a:t>
            </a:r>
            <a:r>
              <a:rPr lang="en-IN" sz="2600" b="1" dirty="0">
                <a:latin typeface="Arial"/>
                <a:cs typeface="Arial"/>
              </a:rPr>
              <a:t>OFF </a:t>
            </a:r>
            <a:r>
              <a:rPr lang="en-IN" sz="2600" dirty="0">
                <a:latin typeface="Arial"/>
                <a:cs typeface="Arial"/>
              </a:rPr>
              <a:t>when temperature exceeds the set limit.</a:t>
            </a:r>
          </a:p>
          <a:p>
            <a:pPr marL="283464" indent="-283464" algn="l"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The boiler turns </a:t>
            </a:r>
            <a:r>
              <a:rPr lang="en-IN" sz="2600" b="1" dirty="0">
                <a:latin typeface="Arial"/>
                <a:cs typeface="Arial"/>
              </a:rPr>
              <a:t>ON</a:t>
            </a:r>
            <a:r>
              <a:rPr lang="en-IN" sz="2600" dirty="0">
                <a:latin typeface="Arial"/>
                <a:cs typeface="Arial"/>
              </a:rPr>
              <a:t> when temperature goes below the limit.</a:t>
            </a:r>
          </a:p>
          <a:p>
            <a:pPr marL="283464" indent="-283464" algn="l"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System works automatically.</a:t>
            </a:r>
          </a:p>
          <a:p>
            <a:pPr marL="283464" indent="-283464" algn="l"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Power consumption is reduced.</a:t>
            </a:r>
          </a:p>
          <a:p>
            <a:pPr marL="283464" indent="-283464" algn="l"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Prototype tested successfully</a:t>
            </a:r>
            <a:r>
              <a:rPr lang="en-IN" dirty="0">
                <a:latin typeface="Arial"/>
                <a:cs typeface="Arial"/>
              </a:rPr>
              <a:t>​.</a:t>
            </a:r>
            <a:endParaRPr lang="en-IN" sz="2600" dirty="0">
              <a:latin typeface="Arial"/>
              <a:cs typeface="Arial"/>
            </a:endParaRPr>
          </a:p>
          <a:p>
            <a:pPr marL="283464" indent="-283464" algn="l"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r>
              <a:rPr lang="en-IN" sz="2600" dirty="0"/>
              <a:t>Real-time parameters such as water temperature, boiler status (ON/OFF), water flow rate, weather temperature, and humidity are continuously displayed on our website dashboard.</a:t>
            </a:r>
          </a:p>
          <a:p>
            <a:pPr marL="283464" indent="-283464" algn="l"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r>
              <a:rPr lang="en-IN" sz="2800" dirty="0"/>
              <a:t>Live graphical monitoring of temperature and water flow is available for better analysis and control.</a:t>
            </a:r>
          </a:p>
          <a:p>
            <a:pPr marL="283464" indent="-283464" algn="l"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endParaRPr lang="en-IN" sz="2600" dirty="0">
              <a:latin typeface="Arial"/>
              <a:cs typeface="Arial"/>
            </a:endParaRP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endParaRPr lang="en-IN" dirty="0">
              <a:latin typeface="Arial"/>
              <a:cs typeface="Arial"/>
            </a:endParaRP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endParaRPr dirty="0"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extBox 21"/>
          <p:cNvSpPr txBox="1"/>
          <p:nvPr/>
        </p:nvSpPr>
        <p:spPr>
          <a:xfrm>
            <a:off x="0" y="812164"/>
            <a:ext cx="1219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400" b="1" dirty="0">
                <a:solidFill>
                  <a:srgbClr val="213163"/>
                </a:solidFill>
                <a:latin typeface="+mj-lt"/>
              </a:rPr>
              <a:t>Conclusion</a:t>
            </a:r>
          </a:p>
        </p:txBody>
      </p:sp>
      <p:grpSp>
        <p:nvGrpSpPr>
          <p:cNvPr id="45" name="Group 7"/>
          <p:cNvGrpSpPr/>
          <p:nvPr/>
        </p:nvGrpSpPr>
        <p:grpSpPr>
          <a:xfrm>
            <a:off x="6877050" y="1485900"/>
            <a:ext cx="5200650" cy="3743899"/>
            <a:chOff x="6226629" y="1485900"/>
            <a:chExt cx="5965371" cy="4294414"/>
          </a:xfrm>
        </p:grpSpPr>
        <p:pic>
          <p:nvPicPr>
            <p:cNvPr id="2097164" name="Picture 2" descr="A hand touching a magnifying glass over a clipboard  AI-generated content may be incorrect."/>
            <p:cNvPicPr>
              <a:picLocks noChangeAspect="1"/>
            </p:cNvPicPr>
            <p:nvPr/>
          </p:nvPicPr>
          <p:blipFill>
            <a:blip r:embed="rId4" cstate="print"/>
            <a:srcRect b="23183"/>
            <a:stretch>
              <a:fillRect/>
            </a:stretch>
          </p:blipFill>
          <p:spPr>
            <a:xfrm>
              <a:off x="6400207" y="1485900"/>
              <a:ext cx="5448944" cy="4283529"/>
            </a:xfrm>
            <a:prstGeom prst="rect">
              <a:avLst/>
            </a:prstGeom>
          </p:spPr>
        </p:pic>
        <p:cxnSp>
          <p:nvCxnSpPr>
            <p:cNvPr id="3145736" name="Straight Connector 6"/>
            <p:cNvCxnSpPr>
              <a:cxnSpLocks/>
            </p:cNvCxnSpPr>
            <p:nvPr/>
          </p:nvCxnSpPr>
          <p:spPr>
            <a:xfrm>
              <a:off x="6226629" y="5780314"/>
              <a:ext cx="5965371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48637" name="object 3"/>
          <p:cNvSpPr txBox="1"/>
          <p:nvPr/>
        </p:nvSpPr>
        <p:spPr>
          <a:xfrm>
            <a:off x="27696" y="1738398"/>
            <a:ext cx="5610657" cy="363220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Through this project, we implemented an intelligent boiler control system using IoT.</a:t>
            </a: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It improves efficiency, reduces power wastage, and provides safe operation.</a:t>
            </a: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The project shows how simple automation can make traditional systems smarter.</a:t>
            </a:r>
            <a:endParaRPr sz="2600" dirty="0">
              <a:latin typeface="Arial"/>
              <a:cs typeface="Arial"/>
            </a:endParaRPr>
          </a:p>
        </p:txBody>
      </p:sp>
      <p:grpSp>
        <p:nvGrpSpPr>
          <p:cNvPr id="46" name="Group 9"/>
          <p:cNvGrpSpPr/>
          <p:nvPr/>
        </p:nvGrpSpPr>
        <p:grpSpPr>
          <a:xfrm>
            <a:off x="-19050" y="6076948"/>
            <a:ext cx="12220575" cy="560171"/>
            <a:chOff x="-19050" y="6076948"/>
            <a:chExt cx="12220575" cy="560171"/>
          </a:xfrm>
        </p:grpSpPr>
        <p:sp>
          <p:nvSpPr>
            <p:cNvPr id="1048638" name="TextBox 10"/>
            <p:cNvSpPr txBox="1"/>
            <p:nvPr/>
          </p:nvSpPr>
          <p:spPr>
            <a:xfrm>
              <a:off x="-1" y="6372240"/>
              <a:ext cx="12201525" cy="2648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N" sz="1100" dirty="0">
                  <a:hlinkClick r:id="rId5" tooltip="https://drive.google.com/file/d/1kyJlMi3vMESOZCXxd7hlQS7Qjj4vbdcy/view?usp=drivesdk"/>
                </a:rPr>
                <a:t>https://drive.google.com/file/d/1kyJlMi3vMESOZCXxd7hlQS7Qjj4vbdcy/view?usp=drivesdk</a:t>
              </a:r>
              <a:endParaRPr lang="en-US" sz="11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7" name="Group 11"/>
            <p:cNvGrpSpPr/>
            <p:nvPr/>
          </p:nvGrpSpPr>
          <p:grpSpPr>
            <a:xfrm>
              <a:off x="-19050" y="6076948"/>
              <a:ext cx="12220575" cy="294640"/>
              <a:chOff x="-19050" y="6076948"/>
              <a:chExt cx="12220575" cy="294640"/>
            </a:xfrm>
          </p:grpSpPr>
          <p:sp>
            <p:nvSpPr>
              <p:cNvPr id="1048639" name="TextBox 12"/>
              <p:cNvSpPr txBox="1"/>
              <p:nvPr/>
            </p:nvSpPr>
            <p:spPr>
              <a:xfrm>
                <a:off x="5704996" y="6076948"/>
                <a:ext cx="727343" cy="2946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b="1" dirty="0"/>
                  <a:t>Source</a:t>
                </a:r>
              </a:p>
            </p:txBody>
          </p:sp>
          <p:cxnSp>
            <p:nvCxnSpPr>
              <p:cNvPr id="3145737" name="Straight Connector 13"/>
              <p:cNvCxnSpPr>
                <a:cxnSpLocks/>
              </p:cNvCxnSpPr>
              <p:nvPr/>
            </p:nvCxnSpPr>
            <p:spPr>
              <a:xfrm flipV="1">
                <a:off x="6506726" y="6229350"/>
                <a:ext cx="5694799" cy="14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5738" name="Straight Connector 22"/>
              <p:cNvCxnSpPr>
                <a:cxnSpLocks/>
              </p:cNvCxnSpPr>
              <p:nvPr/>
            </p:nvCxnSpPr>
            <p:spPr>
              <a:xfrm>
                <a:off x="-19050" y="6229350"/>
                <a:ext cx="565785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Title 3"/>
          <p:cNvSpPr>
            <a:spLocks noGrp="1"/>
          </p:cNvSpPr>
          <p:nvPr>
            <p:ph type="title" idx="4294967295"/>
          </p:nvPr>
        </p:nvSpPr>
        <p:spPr>
          <a:xfrm>
            <a:off x="0" y="814387"/>
            <a:ext cx="12191999" cy="650061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400" b="1" dirty="0">
                <a:solidFill>
                  <a:srgbClr val="213163"/>
                </a:solidFill>
                <a:latin typeface="+mj-lt"/>
              </a:rPr>
              <a:t>Future Perspective</a:t>
            </a:r>
            <a:endParaRPr lang="en-US" sz="4400" b="1" dirty="0">
              <a:solidFill>
                <a:srgbClr val="213163"/>
              </a:solidFill>
              <a:latin typeface="+mj-lt"/>
            </a:endParaRPr>
          </a:p>
        </p:txBody>
      </p:sp>
      <p:sp>
        <p:nvSpPr>
          <p:cNvPr id="1048644" name="object 3"/>
          <p:cNvSpPr txBox="1"/>
          <p:nvPr/>
        </p:nvSpPr>
        <p:spPr>
          <a:xfrm>
            <a:off x="0" y="1615714"/>
            <a:ext cx="12192000" cy="542712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83464" indent="-283464" algn="l"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In the future, we can add:</a:t>
            </a: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Mobile app control.</a:t>
            </a: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endParaRPr lang="en-IN" sz="2600" dirty="0">
              <a:latin typeface="Arial"/>
              <a:cs typeface="Arial"/>
            </a:endParaRP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Cloud monitoring.</a:t>
            </a: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endParaRPr lang="en-IN" sz="2600" dirty="0">
              <a:latin typeface="Arial"/>
              <a:cs typeface="Arial"/>
            </a:endParaRP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Water quality sensors.</a:t>
            </a: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endParaRPr lang="en-IN" sz="2600" dirty="0">
              <a:latin typeface="Arial"/>
              <a:cs typeface="Arial"/>
            </a:endParaRP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r>
              <a:rPr lang="en-IN" sz="2600" dirty="0">
                <a:latin typeface="Arial"/>
                <a:cs typeface="Arial"/>
              </a:rPr>
              <a:t>Smart alerts and notifications</a:t>
            </a: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endParaRPr lang="en-IN" sz="2600" dirty="0">
              <a:latin typeface="Arial"/>
              <a:cs typeface="Arial"/>
            </a:endParaRP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endParaRPr lang="en-IN" sz="2600" dirty="0">
              <a:latin typeface="Arial"/>
              <a:cs typeface="Arial"/>
            </a:endParaRPr>
          </a:p>
          <a:p>
            <a:pPr marL="400050" indent="-400050" algn="l">
              <a:spcAft>
                <a:spcPts val="800"/>
              </a:spcAft>
              <a:buSzPct val="100000"/>
              <a:buFont typeface="+mj-lt"/>
              <a:buAutoNum type="romanLcPeriod"/>
              <a:tabLst>
                <a:tab pos="299085" algn="l"/>
              </a:tabLst>
            </a:pPr>
            <a:endParaRPr lang="en-IN" sz="2600" dirty="0"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Google Shape;61;g5fab984687_2_0"/>
          <p:cNvSpPr txBox="1"/>
          <p:nvPr/>
        </p:nvSpPr>
        <p:spPr>
          <a:xfrm>
            <a:off x="3694253" y="2935476"/>
            <a:ext cx="4803493" cy="98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2800"/>
            </a:pPr>
            <a:r>
              <a:rPr lang="en-US" sz="5000" b="1" dirty="0">
                <a:solidFill>
                  <a:srgbClr val="21316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Thank You</a:t>
            </a:r>
            <a:endParaRPr lang="en-US" sz="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557</Words>
  <Application>Microsoft Office PowerPoint</Application>
  <PresentationFormat>Widescreen</PresentationFormat>
  <Paragraphs>134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Simple Light</vt:lpstr>
      <vt:lpstr>PowerPoint Presentation</vt:lpstr>
      <vt:lpstr>Project Objectives </vt:lpstr>
      <vt:lpstr>Problem Statement : </vt:lpstr>
      <vt:lpstr>Project Overview :</vt:lpstr>
      <vt:lpstr>End User :</vt:lpstr>
      <vt:lpstr>Wow factor :</vt:lpstr>
      <vt:lpstr>Block Diagram</vt:lpstr>
      <vt:lpstr> Outcomes</vt:lpstr>
      <vt:lpstr>PowerPoint Presentation</vt:lpstr>
      <vt:lpstr>Future Perspective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slide</dc:title>
  <dc:creator>Mohd Kaisar</dc:creator>
  <cp:lastModifiedBy>kashish gupta</cp:lastModifiedBy>
  <cp:revision>32</cp:revision>
  <dcterms:created xsi:type="dcterms:W3CDTF">2024-06-23T00:04:39Z</dcterms:created>
  <dcterms:modified xsi:type="dcterms:W3CDTF">2026-02-24T13:12:59Z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2024-05-23T00:00:00Z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2024-06-24T00:00:00Z</vt:filetime>
  </property>
  <property fmtid="{D5CDD505-2E9C-101B-9397-08002B2CF9AE}" pid="5" name="Producer">
    <vt:lpwstr>Microsoft® PowerPoint® 2021</vt:lpwstr>
  </property>
  <property fmtid="{D5CDD505-2E9C-101B-9397-08002B2CF9AE}" pid="6" name="ArticulateGUID">
    <vt:lpwstr>FA72309D-1D09-49B1-8354-C196AEFF1A13</vt:lpwstr>
  </property>
  <property fmtid="{D5CDD505-2E9C-101B-9397-08002B2CF9AE}" pid="7" name="ArticulatePath">
    <vt:lpwstr>https://edunetfoundationorg-my.sharepoint.com/personal/kaisar_edunetfoundation_org/Documents/Beutified ppt/Code Unnati/Sample 2025/PPT Design Template</vt:lpwstr>
  </property>
  <property fmtid="{D5CDD505-2E9C-101B-9397-08002B2CF9AE}" pid="8" name="ICV">
    <vt:lpwstr>e9cb8f6275944e4ebb69f746c41cbcf1</vt:lpwstr>
  </property>
</Properties>
</file>